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60" r:id="rId3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72" r:id="rId11"/>
    <p:sldId id="263" r:id="rId12"/>
    <p:sldId id="273" r:id="rId13"/>
  </p:sldIdLst>
  <p:sldSz cx="9144000" cy="6858000" type="screen4x3"/>
  <p:notesSz cx="6858000" cy="9144000"/>
  <p:embeddedFontLst>
    <p:embeddedFont>
      <p:font typeface="Bookman Old Style" panose="02050604050505020204" charset="0"/>
      <p:regular r:id="rId18"/>
      <p:bold r:id="rId19"/>
      <p:italic r:id="rId20"/>
    </p:embeddedFont>
    <p:embeddedFont>
      <p:font typeface="Manrope ExtraBold" charset="0"/>
      <p:bold r:id="rId21"/>
    </p:embeddedFont>
    <p:embeddedFont>
      <p:font typeface="Calibri" panose="020F050202020403020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image" Target="../media/image1.jpeg"/><Relationship Id="rId2" Type="http://schemas.openxmlformats.org/officeDocument/2006/relationships/tags" Target="../tags/tag25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0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image" Target="../media/image1.jpeg"/><Relationship Id="rId2" Type="http://schemas.openxmlformats.org/officeDocument/2006/relationships/tags" Target="../tags/tag70.xml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图片 89" descr="水上有桥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 flipH="1">
            <a:off x="0" y="857250"/>
            <a:ext cx="9144000" cy="5143500"/>
          </a:xfrm>
          <a:prstGeom prst="rect">
            <a:avLst/>
          </a:prstGeom>
        </p:spPr>
      </p:pic>
      <p:sp>
        <p:nvSpPr>
          <p:cNvPr id="66" name="矩形: 圆角 65"/>
          <p:cNvSpPr/>
          <p:nvPr>
            <p:custDataLst>
              <p:tags r:id="rId4"/>
            </p:custDataLst>
          </p:nvPr>
        </p:nvSpPr>
        <p:spPr>
          <a:xfrm>
            <a:off x="0" y="857250"/>
            <a:ext cx="9144000" cy="51435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57000"/>
                </a:schemeClr>
              </a:gs>
            </a:gsLst>
            <a:lin ang="0" scaled="0"/>
          </a:gradFill>
          <a:ln w="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>
              <a:solidFill>
                <a:schemeClr val="lt1"/>
              </a:solidFill>
            </a:endParaRPr>
          </a:p>
        </p:txBody>
      </p:sp>
      <p:sp>
        <p:nvSpPr>
          <p:cNvPr id="10" name="矩形: 单圆角 1"/>
          <p:cNvSpPr/>
          <p:nvPr>
            <p:custDataLst>
              <p:tags r:id="rId5"/>
            </p:custDataLst>
          </p:nvPr>
        </p:nvSpPr>
        <p:spPr>
          <a:xfrm flipH="1">
            <a:off x="4544854" y="5569744"/>
            <a:ext cx="4599146" cy="431006"/>
          </a:xfrm>
          <a:prstGeom prst="round1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>
              <a:solidFill>
                <a:schemeClr val="lt1"/>
              </a:solidFill>
            </a:endParaRPr>
          </a:p>
        </p:txBody>
      </p:sp>
      <p:sp>
        <p:nvSpPr>
          <p:cNvPr id="74" name="矩形 73"/>
          <p:cNvSpPr/>
          <p:nvPr>
            <p:custDataLst>
              <p:tags r:id="rId6"/>
            </p:custDataLst>
          </p:nvPr>
        </p:nvSpPr>
        <p:spPr>
          <a:xfrm>
            <a:off x="8458200" y="5569268"/>
            <a:ext cx="685800" cy="43100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>
              <a:solidFill>
                <a:schemeClr val="lt1"/>
              </a:solidFill>
            </a:endParaRPr>
          </a:p>
        </p:txBody>
      </p:sp>
      <p:sp>
        <p:nvSpPr>
          <p:cNvPr id="9" name="标题"/>
          <p:cNvSpPr txBox="1">
            <a:spLocks noGrp="1"/>
          </p:cNvSpPr>
          <p:nvPr>
            <p:ph type="title" idx="4" hasCustomPrompt="1"/>
            <p:custDataLst>
              <p:tags r:id="rId7"/>
            </p:custDataLst>
          </p:nvPr>
        </p:nvSpPr>
        <p:spPr>
          <a:xfrm>
            <a:off x="723424" y="2528888"/>
            <a:ext cx="5768816" cy="19164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90000"/>
              </a:lnSpc>
              <a:buClrTx/>
              <a:buSzTx/>
              <a:buFontTx/>
              <a:buNone/>
              <a:defRPr kumimoji="0" lang="en-US" sz="4050" b="1" i="0" u="none" strike="noStrike" kern="5700" cap="none" spc="0" normalizeH="0" baseline="0" noProof="1" dirty="0">
                <a:solidFill>
                  <a:schemeClr val="lt1">
                    <a:lumMod val="100000"/>
                  </a:schemeClr>
                </a:solidFill>
                <a:latin typeface="+mj-lt"/>
                <a:sym typeface="+mn-ea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dirty="0">
                <a:latin typeface="+mj-lt"/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8" name="署名"/>
          <p:cNvSpPr txBox="1">
            <a:spLocks noGrp="1"/>
          </p:cNvSpPr>
          <p:nvPr>
            <p:ph type="body" idx="3" hasCustomPrompt="1"/>
            <p:custDataLst>
              <p:tags r:id="rId8"/>
            </p:custDataLst>
          </p:nvPr>
        </p:nvSpPr>
        <p:spPr>
          <a:xfrm>
            <a:off x="723424" y="4547330"/>
            <a:ext cx="1629728" cy="359093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D247"/>
                </a:solidFill>
              </a14:hiddenFill>
            </a:ext>
          </a:extLst>
        </p:spPr>
        <p:txBody>
          <a:bodyPr wrap="square" lIns="0" tIns="0" rIns="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200" b="1" i="0" u="none" strike="noStrike" kern="1200" cap="none" spc="0" normalizeH="0" baseline="0" noProof="1" dirty="0">
                <a:solidFill>
                  <a:schemeClr val="lt1">
                    <a:lumMod val="100000"/>
                  </a:schemeClr>
                </a:solidFill>
                <a:uFillTx/>
                <a:latin typeface="+mn-lt"/>
              </a:defRPr>
            </a:lvl1pPr>
          </a:lstStyle>
          <a:p>
            <a:pPr lvl="0" algn="ctr">
              <a:lnSpc>
                <a:spcPct val="100000"/>
              </a:lnSpc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9"/>
            </p:custDataLst>
          </p:nvPr>
        </p:nvSpPr>
        <p:spPr>
          <a:xfrm>
            <a:off x="723900" y="1755125"/>
            <a:ext cx="5768816" cy="67532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800" b="1" i="0" u="none" strike="noStrike" kern="1200" cap="none" spc="0" normalizeH="0" baseline="0" noProof="1" dirty="0">
                <a:solidFill>
                  <a:schemeClr val="accent6"/>
                </a:solidFill>
                <a:latin typeface="+mj-lt"/>
                <a:sym typeface="+mn-ea"/>
              </a:defRPr>
            </a:lvl1pPr>
          </a:lstStyle>
          <a:p>
            <a:pPr lvl="0" algn="l"/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65"/>
          <p:cNvSpPr/>
          <p:nvPr>
            <p:custDataLst>
              <p:tags r:id="rId2"/>
            </p:custDataLst>
          </p:nvPr>
        </p:nvSpPr>
        <p:spPr>
          <a:xfrm flipV="1">
            <a:off x="-2381" y="857250"/>
            <a:ext cx="9144000" cy="831533"/>
          </a:xfrm>
          <a:custGeom>
            <a:avLst/>
            <a:gdLst>
              <a:gd name="connsiteX0" fmla="*/ 0 w 12192000"/>
              <a:gd name="connsiteY0" fmla="*/ 0 h 5373687"/>
              <a:gd name="connsiteX1" fmla="*/ 12192000 w 12192000"/>
              <a:gd name="connsiteY1" fmla="*/ 0 h 5373687"/>
              <a:gd name="connsiteX2" fmla="*/ 12192000 w 12192000"/>
              <a:gd name="connsiteY2" fmla="*/ 5373687 h 5373687"/>
              <a:gd name="connsiteX3" fmla="*/ 0 w 12192000"/>
              <a:gd name="connsiteY3" fmla="*/ 5373687 h 5373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373687">
                <a:moveTo>
                  <a:pt x="0" y="0"/>
                </a:moveTo>
                <a:lnTo>
                  <a:pt x="12192000" y="0"/>
                </a:lnTo>
                <a:lnTo>
                  <a:pt x="12192000" y="5373687"/>
                </a:lnTo>
                <a:lnTo>
                  <a:pt x="0" y="5373687"/>
                </a:lnTo>
                <a:close/>
              </a:path>
            </a:pathLst>
          </a:custGeom>
          <a:solidFill>
            <a:schemeClr val="accent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US" sz="1350" b="0" dirty="0">
              <a:solidFill>
                <a:schemeClr val="lt1"/>
              </a:solidFill>
              <a:latin typeface="+mj-lt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3"/>
            </p:custDataLst>
          </p:nvPr>
        </p:nvSpPr>
        <p:spPr>
          <a:xfrm>
            <a:off x="456248" y="1053941"/>
            <a:ext cx="8227219" cy="51387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en-US">
                <a:latin typeface="+mj-lt"/>
              </a:defRPr>
            </a:defPPr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4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6"/>
                </a:solidFill>
                <a:uFillTx/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4"/>
            </p:custDataLst>
          </p:nvPr>
        </p:nvSpPr>
        <p:spPr>
          <a:xfrm>
            <a:off x="456724" y="1822609"/>
            <a:ext cx="8226743" cy="3721894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en-US" sz="135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3990975" y="859155"/>
            <a:ext cx="5153025" cy="5141595"/>
          </a:xfrm>
          <a:prstGeom prst="rect">
            <a:avLst/>
          </a:prstGeom>
          <a:solidFill>
            <a:schemeClr val="accent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/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852011"/>
            <a:ext cx="5153025" cy="5141595"/>
          </a:xfrm>
          <a:prstGeom prst="rect">
            <a:avLst/>
          </a:prstGeom>
          <a:solidFill>
            <a:schemeClr val="accent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/>
          </a:p>
        </p:txBody>
      </p:sp>
      <p:sp>
        <p:nvSpPr>
          <p:cNvPr id="9" name="矩形: 单圆角 3"/>
          <p:cNvSpPr/>
          <p:nvPr>
            <p:custDataLst>
              <p:tags r:id="rId4"/>
            </p:custDataLst>
          </p:nvPr>
        </p:nvSpPr>
        <p:spPr>
          <a:xfrm flipH="1">
            <a:off x="4125189" y="1311593"/>
            <a:ext cx="5018809" cy="4689157"/>
          </a:xfrm>
          <a:prstGeom prst="round1Rect">
            <a:avLst>
              <a:gd name="adj" fmla="val 22727"/>
            </a:avLst>
          </a:prstGeom>
          <a:solidFill>
            <a:schemeClr val="accent1">
              <a:lumMod val="75000"/>
            </a:schemeClr>
          </a:solidFill>
          <a:ln>
            <a:solidFill>
              <a:srgbClr val="000000">
                <a:alpha val="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defTabSz="914400"/>
            <a:endParaRPr lang="en-US" sz="1350" dirty="0">
              <a:solidFill>
                <a:schemeClr val="lt1"/>
              </a:solidFill>
            </a:endParaRPr>
          </a:p>
        </p:txBody>
      </p:sp>
      <p:sp>
        <p:nvSpPr>
          <p:cNvPr id="8" name="矩形 7"/>
          <p:cNvSpPr/>
          <p:nvPr>
            <p:custDataLst>
              <p:tags r:id="rId5"/>
            </p:custDataLst>
          </p:nvPr>
        </p:nvSpPr>
        <p:spPr>
          <a:xfrm>
            <a:off x="475774" y="2406968"/>
            <a:ext cx="8271034" cy="3080861"/>
          </a:xfrm>
          <a:prstGeom prst="rect">
            <a:avLst/>
          </a:prstGeom>
          <a:solidFill>
            <a:schemeClr val="lt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defTabSz="914400"/>
            <a:endParaRPr lang="en-US" sz="1350">
              <a:solidFill>
                <a:schemeClr val="lt1"/>
              </a:solidFill>
            </a:endParaRPr>
          </a:p>
        </p:txBody>
      </p:sp>
      <p:sp>
        <p:nvSpPr>
          <p:cNvPr id="6" name="标题"/>
          <p:cNvSpPr>
            <a:spLocks noGrp="1"/>
          </p:cNvSpPr>
          <p:nvPr>
            <p:ph type="title" idx="1" hasCustomPrompt="1"/>
            <p:custDataLst>
              <p:tags r:id="rId6"/>
            </p:custDataLst>
          </p:nvPr>
        </p:nvSpPr>
        <p:spPr>
          <a:xfrm>
            <a:off x="570071" y="1506855"/>
            <a:ext cx="3555116" cy="75152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300" b="1" i="0" u="none" strike="noStrike" kern="5700" cap="none" spc="0" normalizeH="0" baseline="0" noProof="1" dirty="0">
                <a:solidFill>
                  <a:schemeClr val="lt1">
                    <a:lumMod val="100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+mj-lt"/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 descr="水上有桥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3" name="矩形: 圆角 32"/>
          <p:cNvSpPr/>
          <p:nvPr>
            <p:custDataLst>
              <p:tags r:id="rId4"/>
            </p:custDataLst>
          </p:nvPr>
        </p:nvSpPr>
        <p:spPr>
          <a:xfrm flipH="1">
            <a:off x="0" y="857250"/>
            <a:ext cx="9143524" cy="5143976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57000"/>
                </a:schemeClr>
              </a:gs>
            </a:gsLst>
            <a:lin ang="0" scaled="0"/>
          </a:gradFill>
          <a:ln w="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 dirty="0">
              <a:solidFill>
                <a:schemeClr val="lt1"/>
              </a:solidFill>
            </a:endParaRPr>
          </a:p>
        </p:txBody>
      </p:sp>
      <p:sp>
        <p:nvSpPr>
          <p:cNvPr id="9" name="节编号"/>
          <p:cNvSpPr txBox="1">
            <a:spLocks noGrp="1"/>
          </p:cNvSpPr>
          <p:nvPr>
            <p:ph type="body" idx="5" hasCustomPrompt="1"/>
            <p:custDataLst>
              <p:tags r:id="rId5"/>
            </p:custDataLst>
          </p:nvPr>
        </p:nvSpPr>
        <p:spPr>
          <a:xfrm>
            <a:off x="3083243" y="2128838"/>
            <a:ext cx="5027771" cy="815816"/>
          </a:xfrm>
          <a:prstGeom prst="rect">
            <a:avLst/>
          </a:prstGeom>
          <a:noFill/>
        </p:spPr>
        <p:txBody>
          <a:bodyPr wrap="none" lIns="91440" tIns="45720" rIns="91440" bIns="45720" rtlCol="0" anchor="b" anchorCtr="0">
            <a:normAutofit/>
          </a:bodyPr>
          <a:lstStyle>
            <a:defPPr>
              <a:defRPr lang="en-US">
                <a:latin typeface="+mn-lt"/>
              </a:defRPr>
            </a:defPPr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800" b="1" i="0" u="none" strike="noStrike" kern="1200" cap="none" spc="0" normalizeH="0" baseline="0" noProof="1" dirty="0">
                <a:solidFill>
                  <a:schemeClr val="accent6"/>
                </a:solidFill>
                <a:latin typeface="+mn-lt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标题"/>
          <p:cNvSpPr>
            <a:spLocks noGrp="1"/>
          </p:cNvSpPr>
          <p:nvPr>
            <p:ph type="title" idx="4" hasCustomPrompt="1"/>
            <p:custDataLst>
              <p:tags r:id="rId6"/>
            </p:custDataLst>
          </p:nvPr>
        </p:nvSpPr>
        <p:spPr>
          <a:xfrm>
            <a:off x="1759077" y="2944654"/>
            <a:ext cx="6351937" cy="2394299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050" b="1" i="0" u="none" strike="noStrike" kern="5700" cap="none" spc="0" normalizeH="0" baseline="0" noProof="1" dirty="0">
                <a:solidFill>
                  <a:schemeClr val="lt1">
                    <a:lumMod val="100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lang="en-US" dirty="0">
                <a:latin typeface="+mj-lt"/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7" name="矩形: 单圆角 1"/>
          <p:cNvSpPr/>
          <p:nvPr>
            <p:custDataLst>
              <p:tags r:id="rId7"/>
            </p:custDataLst>
          </p:nvPr>
        </p:nvSpPr>
        <p:spPr>
          <a:xfrm>
            <a:off x="0" y="5569744"/>
            <a:ext cx="4599146" cy="431006"/>
          </a:xfrm>
          <a:prstGeom prst="round1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>
              <a:solidFill>
                <a:schemeClr val="lt1"/>
              </a:solidFill>
            </a:endParaRPr>
          </a:p>
        </p:txBody>
      </p:sp>
      <p:sp>
        <p:nvSpPr>
          <p:cNvPr id="74" name="矩形 73"/>
          <p:cNvSpPr/>
          <p:nvPr>
            <p:custDataLst>
              <p:tags r:id="rId8"/>
            </p:custDataLst>
          </p:nvPr>
        </p:nvSpPr>
        <p:spPr>
          <a:xfrm>
            <a:off x="0" y="5569268"/>
            <a:ext cx="685800" cy="43100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>
              <a:solidFill>
                <a:schemeClr val="lt1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文"/>
          <p:cNvSpPr txBox="1">
            <a:spLocks noGrp="1"/>
          </p:cNvSpPr>
          <p:nvPr>
            <p:ph idx="4" hasCustomPrompt="1"/>
            <p:custDataLst>
              <p:tags r:id="rId2"/>
            </p:custDataLst>
          </p:nvPr>
        </p:nvSpPr>
        <p:spPr>
          <a:xfrm>
            <a:off x="4808700" y="1983150"/>
            <a:ext cx="3882600" cy="35613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35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0" name="正文"/>
          <p:cNvSpPr txBox="1">
            <a:spLocks noGrp="1"/>
          </p:cNvSpPr>
          <p:nvPr>
            <p:ph idx="3" hasCustomPrompt="1"/>
            <p:custDataLst>
              <p:tags r:id="rId3"/>
            </p:custDataLst>
          </p:nvPr>
        </p:nvSpPr>
        <p:spPr>
          <a:xfrm>
            <a:off x="456300" y="1983150"/>
            <a:ext cx="3882600" cy="35613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35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9" name="任意多边形: 形状 65"/>
          <p:cNvSpPr/>
          <p:nvPr>
            <p:custDataLst>
              <p:tags r:id="rId4"/>
            </p:custDataLst>
          </p:nvPr>
        </p:nvSpPr>
        <p:spPr>
          <a:xfrm flipV="1">
            <a:off x="-2381" y="857250"/>
            <a:ext cx="9144000" cy="831533"/>
          </a:xfrm>
          <a:custGeom>
            <a:avLst/>
            <a:gdLst>
              <a:gd name="connsiteX0" fmla="*/ 0 w 12192000"/>
              <a:gd name="connsiteY0" fmla="*/ 0 h 5373687"/>
              <a:gd name="connsiteX1" fmla="*/ 12192000 w 12192000"/>
              <a:gd name="connsiteY1" fmla="*/ 0 h 5373687"/>
              <a:gd name="connsiteX2" fmla="*/ 12192000 w 12192000"/>
              <a:gd name="connsiteY2" fmla="*/ 5373687 h 5373687"/>
              <a:gd name="connsiteX3" fmla="*/ 0 w 12192000"/>
              <a:gd name="connsiteY3" fmla="*/ 5373687 h 5373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373687">
                <a:moveTo>
                  <a:pt x="0" y="0"/>
                </a:moveTo>
                <a:lnTo>
                  <a:pt x="12192000" y="0"/>
                </a:lnTo>
                <a:lnTo>
                  <a:pt x="12192000" y="5373687"/>
                </a:lnTo>
                <a:lnTo>
                  <a:pt x="0" y="5373687"/>
                </a:lnTo>
                <a:close/>
              </a:path>
            </a:pathLst>
          </a:custGeom>
          <a:solidFill>
            <a:schemeClr val="accent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US" sz="1350" b="0" dirty="0">
              <a:solidFill>
                <a:schemeClr val="lt1"/>
              </a:solidFill>
              <a:latin typeface="+mj-lt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456248" y="1053941"/>
            <a:ext cx="8227219" cy="51387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en-US">
                <a:latin typeface="+mj-lt"/>
              </a:defRPr>
            </a:defPPr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4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6"/>
                </a:solidFill>
                <a:uFillTx/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文"/>
          <p:cNvSpPr txBox="1">
            <a:spLocks noGrp="1"/>
          </p:cNvSpPr>
          <p:nvPr>
            <p:ph idx="6" hasCustomPrompt="1"/>
            <p:custDataLst>
              <p:tags r:id="rId2"/>
            </p:custDataLst>
          </p:nvPr>
        </p:nvSpPr>
        <p:spPr>
          <a:xfrm>
            <a:off x="4676400" y="2247750"/>
            <a:ext cx="4006800" cy="32967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35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5" hasCustomPrompt="1"/>
            <p:custDataLst>
              <p:tags r:id="rId3"/>
            </p:custDataLst>
          </p:nvPr>
        </p:nvSpPr>
        <p:spPr>
          <a:xfrm>
            <a:off x="4676299" y="1904048"/>
            <a:ext cx="4006691" cy="325279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5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4" hasCustomPrompt="1"/>
            <p:custDataLst>
              <p:tags r:id="rId4"/>
            </p:custDataLst>
          </p:nvPr>
        </p:nvSpPr>
        <p:spPr>
          <a:xfrm>
            <a:off x="456300" y="2247750"/>
            <a:ext cx="4006800" cy="32967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35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 hasCustomPrompt="1"/>
            <p:custDataLst>
              <p:tags r:id="rId5"/>
            </p:custDataLst>
          </p:nvPr>
        </p:nvSpPr>
        <p:spPr>
          <a:xfrm>
            <a:off x="456248" y="1904524"/>
            <a:ext cx="4006691" cy="32385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5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1" name="任意多边形: 形状 65"/>
          <p:cNvSpPr/>
          <p:nvPr>
            <p:custDataLst>
              <p:tags r:id="rId6"/>
            </p:custDataLst>
          </p:nvPr>
        </p:nvSpPr>
        <p:spPr>
          <a:xfrm flipV="1">
            <a:off x="-2381" y="857250"/>
            <a:ext cx="9144000" cy="831533"/>
          </a:xfrm>
          <a:custGeom>
            <a:avLst/>
            <a:gdLst>
              <a:gd name="connsiteX0" fmla="*/ 0 w 12192000"/>
              <a:gd name="connsiteY0" fmla="*/ 0 h 5373687"/>
              <a:gd name="connsiteX1" fmla="*/ 12192000 w 12192000"/>
              <a:gd name="connsiteY1" fmla="*/ 0 h 5373687"/>
              <a:gd name="connsiteX2" fmla="*/ 12192000 w 12192000"/>
              <a:gd name="connsiteY2" fmla="*/ 5373687 h 5373687"/>
              <a:gd name="connsiteX3" fmla="*/ 0 w 12192000"/>
              <a:gd name="connsiteY3" fmla="*/ 5373687 h 5373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373687">
                <a:moveTo>
                  <a:pt x="0" y="0"/>
                </a:moveTo>
                <a:lnTo>
                  <a:pt x="12192000" y="0"/>
                </a:lnTo>
                <a:lnTo>
                  <a:pt x="12192000" y="5373687"/>
                </a:lnTo>
                <a:lnTo>
                  <a:pt x="0" y="5373687"/>
                </a:lnTo>
                <a:close/>
              </a:path>
            </a:pathLst>
          </a:custGeom>
          <a:solidFill>
            <a:schemeClr val="accent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US" sz="1350">
              <a:solidFill>
                <a:schemeClr val="lt1"/>
              </a:solidFill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 hasCustomPrompt="1"/>
            <p:custDataLst>
              <p:tags r:id="rId7"/>
            </p:custDataLst>
          </p:nvPr>
        </p:nvSpPr>
        <p:spPr>
          <a:xfrm>
            <a:off x="456248" y="1053941"/>
            <a:ext cx="8227219" cy="51387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en-US">
                <a:latin typeface="+mj-lt"/>
              </a:defRPr>
            </a:defPPr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4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6"/>
                </a:solidFill>
                <a:uFillTx/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5"/>
          <p:cNvSpPr/>
          <p:nvPr>
            <p:custDataLst>
              <p:tags r:id="rId2"/>
            </p:custDataLst>
          </p:nvPr>
        </p:nvSpPr>
        <p:spPr>
          <a:xfrm flipV="1">
            <a:off x="-2381" y="857250"/>
            <a:ext cx="9144000" cy="831533"/>
          </a:xfrm>
          <a:custGeom>
            <a:avLst/>
            <a:gdLst>
              <a:gd name="connsiteX0" fmla="*/ 0 w 12192000"/>
              <a:gd name="connsiteY0" fmla="*/ 0 h 5373687"/>
              <a:gd name="connsiteX1" fmla="*/ 12192000 w 12192000"/>
              <a:gd name="connsiteY1" fmla="*/ 0 h 5373687"/>
              <a:gd name="connsiteX2" fmla="*/ 12192000 w 12192000"/>
              <a:gd name="connsiteY2" fmla="*/ 5373687 h 5373687"/>
              <a:gd name="connsiteX3" fmla="*/ 0 w 12192000"/>
              <a:gd name="connsiteY3" fmla="*/ 5373687 h 5373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373687">
                <a:moveTo>
                  <a:pt x="0" y="0"/>
                </a:moveTo>
                <a:lnTo>
                  <a:pt x="12192000" y="0"/>
                </a:lnTo>
                <a:lnTo>
                  <a:pt x="12192000" y="5373687"/>
                </a:lnTo>
                <a:lnTo>
                  <a:pt x="0" y="5373687"/>
                </a:lnTo>
                <a:close/>
              </a:path>
            </a:pathLst>
          </a:custGeom>
          <a:solidFill>
            <a:schemeClr val="accent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US" sz="1350">
              <a:solidFill>
                <a:schemeClr val="lt1"/>
              </a:solidFill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3"/>
            </p:custDataLst>
          </p:nvPr>
        </p:nvSpPr>
        <p:spPr>
          <a:xfrm>
            <a:off x="456248" y="1053941"/>
            <a:ext cx="8227219" cy="51387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en-US">
                <a:latin typeface="+mj-lt"/>
              </a:defRPr>
            </a:defPPr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4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6"/>
                </a:solidFill>
                <a:uFillTx/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>
            <p:custDataLst>
              <p:tags r:id="rId2"/>
            </p:custDataLst>
          </p:nvPr>
        </p:nvSpPr>
        <p:spPr>
          <a:xfrm>
            <a:off x="0" y="857250"/>
            <a:ext cx="9144000" cy="5143976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00" h="10801">
                <a:moveTo>
                  <a:pt x="368" y="357"/>
                </a:moveTo>
                <a:lnTo>
                  <a:pt x="368" y="10497"/>
                </a:lnTo>
                <a:lnTo>
                  <a:pt x="18881" y="10497"/>
                </a:lnTo>
                <a:lnTo>
                  <a:pt x="18881" y="357"/>
                </a:lnTo>
                <a:lnTo>
                  <a:pt x="368" y="357"/>
                </a:lnTo>
                <a:close/>
                <a:moveTo>
                  <a:pt x="0" y="0"/>
                </a:moveTo>
                <a:lnTo>
                  <a:pt x="19200" y="0"/>
                </a:lnTo>
                <a:lnTo>
                  <a:pt x="19200" y="10801"/>
                </a:lnTo>
                <a:lnTo>
                  <a:pt x="0" y="1080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US" sz="1350">
              <a:solidFill>
                <a:schemeClr val="lt1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515A922F-1294-4387-9CB3-FCC8465D972A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>
            <p:custDataLst>
              <p:tags r:id="rId2"/>
            </p:custDataLst>
          </p:nvPr>
        </p:nvSpPr>
        <p:spPr>
          <a:xfrm>
            <a:off x="0" y="857250"/>
            <a:ext cx="9144000" cy="5143976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00" h="10801">
                <a:moveTo>
                  <a:pt x="368" y="357"/>
                </a:moveTo>
                <a:lnTo>
                  <a:pt x="368" y="10497"/>
                </a:lnTo>
                <a:lnTo>
                  <a:pt x="18881" y="10497"/>
                </a:lnTo>
                <a:lnTo>
                  <a:pt x="18881" y="357"/>
                </a:lnTo>
                <a:lnTo>
                  <a:pt x="368" y="357"/>
                </a:lnTo>
                <a:close/>
                <a:moveTo>
                  <a:pt x="0" y="0"/>
                </a:moveTo>
                <a:lnTo>
                  <a:pt x="19200" y="0"/>
                </a:lnTo>
                <a:lnTo>
                  <a:pt x="19200" y="10801"/>
                </a:lnTo>
                <a:lnTo>
                  <a:pt x="0" y="1080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US" sz="1350">
              <a:solidFill>
                <a:schemeClr val="lt1"/>
              </a:solidFill>
            </a:endParaRPr>
          </a:p>
        </p:txBody>
      </p:sp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3"/>
            </p:custDataLst>
          </p:nvPr>
        </p:nvSpPr>
        <p:spPr>
          <a:xfrm>
            <a:off x="521970" y="1127284"/>
            <a:ext cx="8101489" cy="4363403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35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65"/>
          <p:cNvSpPr/>
          <p:nvPr>
            <p:custDataLst>
              <p:tags r:id="rId2"/>
            </p:custDataLst>
          </p:nvPr>
        </p:nvSpPr>
        <p:spPr>
          <a:xfrm flipV="1">
            <a:off x="0" y="857250"/>
            <a:ext cx="9144000" cy="965359"/>
          </a:xfrm>
          <a:custGeom>
            <a:avLst/>
            <a:gdLst>
              <a:gd name="connsiteX0" fmla="*/ 0 w 12192000"/>
              <a:gd name="connsiteY0" fmla="*/ 0 h 5373687"/>
              <a:gd name="connsiteX1" fmla="*/ 12192000 w 12192000"/>
              <a:gd name="connsiteY1" fmla="*/ 0 h 5373687"/>
              <a:gd name="connsiteX2" fmla="*/ 12192000 w 12192000"/>
              <a:gd name="connsiteY2" fmla="*/ 5373687 h 5373687"/>
              <a:gd name="connsiteX3" fmla="*/ 0 w 12192000"/>
              <a:gd name="connsiteY3" fmla="*/ 5373687 h 5373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373687">
                <a:moveTo>
                  <a:pt x="0" y="0"/>
                </a:moveTo>
                <a:lnTo>
                  <a:pt x="12192000" y="0"/>
                </a:lnTo>
                <a:lnTo>
                  <a:pt x="12192000" y="5373687"/>
                </a:lnTo>
                <a:lnTo>
                  <a:pt x="0" y="5373687"/>
                </a:lnTo>
                <a:close/>
              </a:path>
            </a:pathLst>
          </a:custGeom>
          <a:solidFill>
            <a:schemeClr val="accent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US" sz="1350">
              <a:solidFill>
                <a:schemeClr val="lt1"/>
              </a:solidFill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3"/>
            </p:custDataLst>
          </p:nvPr>
        </p:nvSpPr>
        <p:spPr>
          <a:xfrm>
            <a:off x="521970" y="1833563"/>
            <a:ext cx="8099316" cy="3041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050" b="1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+mj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456248" y="977741"/>
            <a:ext cx="8227219" cy="513874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en-US">
                <a:latin typeface="+mj-lt"/>
              </a:defRPr>
            </a:defPPr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400" b="1" i="0" u="none" strike="noStrike" kern="1200" cap="none" spc="0" normalizeH="0" baseline="0" noProof="1" dirty="0">
                <a:solidFill>
                  <a:schemeClr val="accent6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水上有桥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 flipH="1">
            <a:off x="0" y="857250"/>
            <a:ext cx="9144000" cy="5143500"/>
          </a:xfrm>
          <a:prstGeom prst="rect">
            <a:avLst/>
          </a:prstGeom>
        </p:spPr>
      </p:pic>
      <p:sp>
        <p:nvSpPr>
          <p:cNvPr id="66" name="矩形: 圆角 65"/>
          <p:cNvSpPr/>
          <p:nvPr>
            <p:custDataLst>
              <p:tags r:id="rId4"/>
            </p:custDataLst>
          </p:nvPr>
        </p:nvSpPr>
        <p:spPr>
          <a:xfrm>
            <a:off x="0" y="857250"/>
            <a:ext cx="9144000" cy="51435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57000"/>
                </a:schemeClr>
              </a:gs>
            </a:gsLst>
            <a:lin ang="0" scaled="0"/>
          </a:gradFill>
          <a:ln w="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>
              <a:solidFill>
                <a:schemeClr val="lt1"/>
              </a:solidFill>
            </a:endParaRPr>
          </a:p>
        </p:txBody>
      </p:sp>
      <p:sp>
        <p:nvSpPr>
          <p:cNvPr id="9" name="矩形: 单圆角 1"/>
          <p:cNvSpPr/>
          <p:nvPr>
            <p:custDataLst>
              <p:tags r:id="rId5"/>
            </p:custDataLst>
          </p:nvPr>
        </p:nvSpPr>
        <p:spPr>
          <a:xfrm flipH="1">
            <a:off x="4544854" y="5569744"/>
            <a:ext cx="4599146" cy="431006"/>
          </a:xfrm>
          <a:prstGeom prst="round1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>
              <a:solidFill>
                <a:schemeClr val="lt1"/>
              </a:solidFill>
            </a:endParaRPr>
          </a:p>
        </p:txBody>
      </p:sp>
      <p:sp>
        <p:nvSpPr>
          <p:cNvPr id="74" name="矩形 73"/>
          <p:cNvSpPr/>
          <p:nvPr>
            <p:custDataLst>
              <p:tags r:id="rId6"/>
            </p:custDataLst>
          </p:nvPr>
        </p:nvSpPr>
        <p:spPr>
          <a:xfrm>
            <a:off x="8458200" y="5569268"/>
            <a:ext cx="685800" cy="43100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>
              <a:solidFill>
                <a:schemeClr val="lt1"/>
              </a:solidFill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3" hasCustomPrompt="1"/>
            <p:custDataLst>
              <p:tags r:id="rId7"/>
            </p:custDataLst>
          </p:nvPr>
        </p:nvSpPr>
        <p:spPr>
          <a:xfrm>
            <a:off x="723424" y="1951196"/>
            <a:ext cx="5930741" cy="192357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90000"/>
              </a:lnSpc>
              <a:buClrTx/>
              <a:buSzTx/>
              <a:buFontTx/>
              <a:buNone/>
              <a:defRPr kumimoji="0" lang="en-US" sz="4500" b="1" i="0" u="none" strike="noStrike" kern="5700" cap="none" spc="0" normalizeH="0" baseline="0" noProof="1" dirty="0">
                <a:solidFill>
                  <a:schemeClr val="lt1">
                    <a:lumMod val="100000"/>
                  </a:schemeClr>
                </a:solidFill>
                <a:latin typeface="+mj-lt"/>
                <a:sym typeface="+mn-ea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dirty="0">
                <a:latin typeface="+mj-lt"/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2" hasCustomPrompt="1"/>
            <p:custDataLst>
              <p:tags r:id="rId8"/>
            </p:custDataLst>
          </p:nvPr>
        </p:nvSpPr>
        <p:spPr>
          <a:xfrm>
            <a:off x="723424" y="4051350"/>
            <a:ext cx="1629728" cy="359093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D247"/>
                </a:solidFill>
              </a14:hiddenFill>
            </a:ext>
          </a:extLst>
        </p:spPr>
        <p:txBody>
          <a:bodyPr wrap="square" lIns="0" tIns="0" rIns="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200" b="1" i="0" u="none" strike="noStrike" kern="1200" cap="none" spc="0" normalizeH="0" baseline="0" noProof="1" dirty="0">
                <a:solidFill>
                  <a:schemeClr val="lt1">
                    <a:lumMod val="100000"/>
                  </a:schemeClr>
                </a:solidFill>
                <a:uFillTx/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85.xml"/><Relationship Id="rId18" Type="http://schemas.openxmlformats.org/officeDocument/2006/relationships/tags" Target="../tags/tag84.xml"/><Relationship Id="rId17" Type="http://schemas.openxmlformats.org/officeDocument/2006/relationships/tags" Target="../tags/tag83.xml"/><Relationship Id="rId16" Type="http://schemas.openxmlformats.org/officeDocument/2006/relationships/tags" Target="../tags/tag82.xml"/><Relationship Id="rId15" Type="http://schemas.openxmlformats.org/officeDocument/2006/relationships/tags" Target="../tags/tag81.xml"/><Relationship Id="rId14" Type="http://schemas.openxmlformats.org/officeDocument/2006/relationships/tags" Target="../tags/tag80.xml"/><Relationship Id="rId13" Type="http://schemas.openxmlformats.org/officeDocument/2006/relationships/tags" Target="../tags/tag79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5"/>
          <p:cNvSpPr/>
          <p:nvPr>
            <p:custDataLst>
              <p:tags r:id="rId13"/>
            </p:custDataLst>
          </p:nvPr>
        </p:nvSpPr>
        <p:spPr>
          <a:xfrm flipV="1">
            <a:off x="-2381" y="857250"/>
            <a:ext cx="9144000" cy="831533"/>
          </a:xfrm>
          <a:custGeom>
            <a:avLst/>
            <a:gdLst>
              <a:gd name="connsiteX0" fmla="*/ 0 w 12192000"/>
              <a:gd name="connsiteY0" fmla="*/ 0 h 5373687"/>
              <a:gd name="connsiteX1" fmla="*/ 12192000 w 12192000"/>
              <a:gd name="connsiteY1" fmla="*/ 0 h 5373687"/>
              <a:gd name="connsiteX2" fmla="*/ 12192000 w 12192000"/>
              <a:gd name="connsiteY2" fmla="*/ 5373687 h 5373687"/>
              <a:gd name="connsiteX3" fmla="*/ 0 w 12192000"/>
              <a:gd name="connsiteY3" fmla="*/ 5373687 h 5373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373687">
                <a:moveTo>
                  <a:pt x="0" y="0"/>
                </a:moveTo>
                <a:lnTo>
                  <a:pt x="12192000" y="0"/>
                </a:lnTo>
                <a:lnTo>
                  <a:pt x="12192000" y="5373687"/>
                </a:lnTo>
                <a:lnTo>
                  <a:pt x="0" y="5373687"/>
                </a:lnTo>
                <a:close/>
              </a:path>
            </a:pathLst>
          </a:custGeom>
          <a:solidFill>
            <a:schemeClr val="accent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US" sz="1350">
              <a:solidFill>
                <a:schemeClr val="lt1"/>
              </a:solidFill>
              <a:latin typeface="Arial" panose="020B0604020202020204" pitchFamily="34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521970" y="5624513"/>
            <a:ext cx="2057400" cy="273844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6565487" y="5624513"/>
            <a:ext cx="2057400" cy="273844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515A922F-1294-4387-9CB3-FCC8465D972A}" type="slidenum">
              <a:rPr lang="en-US" smtClean="0"/>
            </a:fld>
            <a:endParaRPr 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21"/>
            <p:custDataLst>
              <p:tags r:id="rId17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</a:pPr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521970" y="1127250"/>
            <a:ext cx="8100000" cy="5400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 fontAlgn="auto">
              <a:lnSpc>
                <a:spcPct val="100000"/>
              </a:lnSpc>
              <a:buClrTx/>
              <a:buSzTx/>
              <a:buFontTx/>
            </a:pPr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5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  <a:solidFill>
            <a:srgbClr val="00CC99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0" lang="en-US" sz="2400" b="1" i="0" u="none" strike="noStrike" kern="1200" cap="none" spc="0" normalizeH="0" baseline="0" dirty="0" smtClean="0">
          <a:ln>
            <a:noFill/>
            <a:prstDash val="sysDot"/>
          </a:ln>
          <a:solidFill>
            <a:schemeClr val="accent6"/>
          </a:solidFill>
          <a:uFillTx/>
          <a:latin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0" lang="en-US" sz="1350" b="0" i="0" u="none" strike="noStrike" kern="1200" cap="none" spc="0" normalizeH="0" baseline="0" noProof="1" dirty="0" smtClean="0">
          <a:ln>
            <a:noFill/>
            <a:prstDash val="sysDot"/>
          </a:ln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sym typeface="Arial" panose="020B0604020202020204" pitchFamily="34" charset="0"/>
        </a:defRPr>
      </a:lvl1pPr>
      <a:lvl2pPr marL="514350" marR="0" indent="-171450" algn="l" defTabSz="685800" rtl="0" eaLnBrk="1" fontAlgn="auto" latinLnBrk="0" hangingPunct="1">
        <a:lnSpc>
          <a:spcPct val="120000"/>
        </a:lnSpc>
        <a:spcBef>
          <a:spcPts val="900"/>
        </a:spcBef>
        <a:spcAft>
          <a:spcPts val="0"/>
        </a:spcAft>
        <a:buFont typeface="Arial" panose="020B0604020202020204" pitchFamily="34" charset="0"/>
        <a:buChar char="•"/>
        <a:defRPr kumimoji="0" lang="en-US" sz="1200" b="0" i="0" u="none" strike="noStrike" kern="1200" cap="none" spc="150" normalizeH="0" baseline="0" dirty="0" smtClean="0">
          <a:solidFill>
            <a:schemeClr val="tx1">
              <a:lumMod val="65000"/>
              <a:lumOff val="35000"/>
            </a:schemeClr>
          </a:solidFill>
          <a:uFillTx/>
          <a:latin typeface="+mn-ea"/>
        </a:defRPr>
      </a:lvl2pPr>
      <a:lvl3pPr marL="857250" marR="0" indent="-171450" algn="l" defTabSz="685800" rtl="0" eaLnBrk="1" fontAlgn="auto" latinLnBrk="0" hangingPunct="1">
        <a:lnSpc>
          <a:spcPct val="120000"/>
        </a:lnSpc>
        <a:spcBef>
          <a:spcPts val="900"/>
        </a:spcBef>
        <a:spcAft>
          <a:spcPts val="0"/>
        </a:spcAft>
        <a:buFont typeface="Arial" panose="020B0604020202020204" pitchFamily="34" charset="0"/>
        <a:buChar char="•"/>
        <a:defRPr kumimoji="0" lang="en-US" sz="1200" b="0" i="0" u="none" strike="noStrike" kern="1200" cap="none" spc="150" normalizeH="0" baseline="0" dirty="0" smtClean="0">
          <a:solidFill>
            <a:schemeClr val="tx1">
              <a:lumMod val="65000"/>
              <a:lumOff val="35000"/>
            </a:schemeClr>
          </a:solidFill>
          <a:uFillTx/>
          <a:latin typeface="+mn-ea"/>
        </a:defRPr>
      </a:lvl3pPr>
      <a:lvl4pPr marL="1200150" marR="0" indent="-171450" algn="l" defTabSz="685800" rtl="0" eaLnBrk="1" fontAlgn="auto" latinLnBrk="0" hangingPunct="1">
        <a:lnSpc>
          <a:spcPct val="120000"/>
        </a:lnSpc>
        <a:spcBef>
          <a:spcPts val="900"/>
        </a:spcBef>
        <a:spcAft>
          <a:spcPts val="0"/>
        </a:spcAft>
        <a:buFont typeface="Arial" panose="020B0604020202020204" pitchFamily="34" charset="0"/>
        <a:buChar char="•"/>
        <a:defRPr kumimoji="0" lang="en-US" sz="1200" b="0" i="0" u="none" strike="noStrike" kern="1200" cap="none" spc="150" normalizeH="0" baseline="0" dirty="0" smtClean="0">
          <a:solidFill>
            <a:schemeClr val="tx1">
              <a:lumMod val="65000"/>
              <a:lumOff val="35000"/>
            </a:schemeClr>
          </a:solidFill>
          <a:uFillTx/>
          <a:latin typeface="+mn-ea"/>
        </a:defRPr>
      </a:lvl4pPr>
      <a:lvl5pPr marL="1543050" marR="0" indent="-171450" algn="l" defTabSz="685800" rtl="0" eaLnBrk="1" fontAlgn="auto" latinLnBrk="0" hangingPunct="1">
        <a:lnSpc>
          <a:spcPct val="120000"/>
        </a:lnSpc>
        <a:spcBef>
          <a:spcPts val="900"/>
        </a:spcBef>
        <a:spcAft>
          <a:spcPts val="0"/>
        </a:spcAft>
        <a:buFont typeface="Arial" panose="020B0604020202020204" pitchFamily="34" charset="0"/>
        <a:buChar char="•"/>
        <a:defRPr kumimoji="0" lang="en-US" sz="1200" b="0" i="0" u="none" strike="noStrike" kern="1200" cap="none" spc="150" normalizeH="0" baseline="0" dirty="0">
          <a:solidFill>
            <a:schemeClr val="tx1">
              <a:lumMod val="65000"/>
              <a:lumOff val="35000"/>
            </a:schemeClr>
          </a:solidFill>
          <a:uFillTx/>
          <a:latin typeface="+mn-ea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2.png"/><Relationship Id="rId1" Type="http://schemas.openxmlformats.org/officeDocument/2006/relationships/tags" Target="../tags/tag10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标题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70180" y="1099820"/>
            <a:ext cx="8733155" cy="25590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  <a:sym typeface="+mn-ea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GB" altLang="zh-CN" sz="6600" u="sng" dirty="0">
                <a:solidFill>
                  <a:schemeClr val="bg1"/>
                </a:solidFill>
                <a:latin typeface="+mj-ea"/>
                <a:cs typeface="+mj-ea"/>
              </a:rPr>
              <a:t>H1B VISA APPLICATION </a:t>
            </a:r>
            <a:endParaRPr lang="en-GB" altLang="zh-CN" sz="6600" u="sng" dirty="0">
              <a:solidFill>
                <a:schemeClr val="bg1"/>
              </a:solidFill>
              <a:latin typeface="+mj-ea"/>
              <a:cs typeface="+mj-ea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GB" altLang="zh-CN" sz="6600" u="sng" dirty="0">
                <a:solidFill>
                  <a:schemeClr val="bg1"/>
                </a:solidFill>
                <a:latin typeface="+mj-ea"/>
                <a:cs typeface="+mj-ea"/>
              </a:rPr>
              <a:t>ANALYSIS (2025)</a:t>
            </a:r>
            <a:endParaRPr lang="en-GB" altLang="zh-CN" sz="6600" u="sng" dirty="0">
              <a:solidFill>
                <a:schemeClr val="bg1"/>
              </a:solidFill>
              <a:latin typeface="+mj-ea"/>
              <a:cs typeface="+mj-ea"/>
            </a:endParaRPr>
          </a:p>
        </p:txBody>
      </p:sp>
      <p:sp>
        <p:nvSpPr>
          <p:cNvPr id="30" name="文本占位符 6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>
          <a:xfrm>
            <a:off x="3375025" y="4531995"/>
            <a:ext cx="5768975" cy="1285875"/>
          </a:xfrm>
          <a:prstGeom prst="rect">
            <a:avLst/>
          </a:prstGeom>
          <a:noFill/>
        </p:spPr>
        <p:txBody>
          <a:bodyPr>
            <a:normAutofit fontScale="80000"/>
          </a:bodyPr>
          <a:p>
            <a:r>
              <a:rPr lang="en-GB" sz="4400">
                <a:solidFill>
                  <a:schemeClr val="tx1"/>
                </a:solidFill>
                <a:latin typeface="Bookman Old Style" panose="02050604050505020204" charset="0"/>
                <a:ea typeface="+mn-ea"/>
                <a:cs typeface="Bookman Old Style" panose="02050604050505020204" charset="0"/>
              </a:rPr>
              <a:t>-Anushka Kumari Astha</a:t>
            </a:r>
            <a:endParaRPr lang="en-GB" sz="4400">
              <a:solidFill>
                <a:schemeClr val="tx1"/>
              </a:solidFill>
              <a:latin typeface="Bookman Old Style" panose="02050604050505020204" charset="0"/>
              <a:ea typeface="+mn-ea"/>
              <a:cs typeface="Bookman Old Style" panose="02050604050505020204" charset="0"/>
            </a:endParaRPr>
          </a:p>
          <a:p>
            <a:r>
              <a:rPr lang="en-GB" sz="3200">
                <a:solidFill>
                  <a:schemeClr val="tx1"/>
                </a:solidFill>
                <a:latin typeface="Bookman Old Style" panose="02050604050505020204" charset="0"/>
                <a:ea typeface="+mn-ea"/>
                <a:cs typeface="Bookman Old Style" panose="02050604050505020204" charset="0"/>
              </a:rPr>
              <a:t>     </a:t>
            </a:r>
            <a:r>
              <a:rPr lang="en-GB" sz="3500">
                <a:solidFill>
                  <a:schemeClr val="tx1"/>
                </a:solidFill>
                <a:latin typeface="Bookman Old Style" panose="02050604050505020204" charset="0"/>
                <a:ea typeface="+mn-ea"/>
                <a:cs typeface="Bookman Old Style" panose="02050604050505020204" charset="0"/>
              </a:rPr>
              <a:t> Aspiring Data Analyst</a:t>
            </a:r>
            <a:endParaRPr lang="en-GB" sz="3500">
              <a:solidFill>
                <a:schemeClr val="tx1"/>
              </a:solidFill>
              <a:latin typeface="Bookman Old Style" panose="02050604050505020204" charset="0"/>
              <a:ea typeface="+mn-ea"/>
              <a:cs typeface="Bookman Old Style" panose="0205060405050502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Title 10"/>
          <p:cNvSpPr txBox="1">
            <a:spLocks noGrp="1"/>
          </p:cNvSpPr>
          <p:nvPr>
            <p:ph type="title" idx="2"/>
            <p:custDataLst>
              <p:tags r:id="rId1"/>
            </p:custDataLst>
          </p:nvPr>
        </p:nvSpPr>
        <p:spPr>
          <a:xfrm>
            <a:off x="456565" y="925830"/>
            <a:ext cx="8227060" cy="722630"/>
          </a:xfrm>
          <a:noFill/>
        </p:spPr>
        <p:txBody>
          <a:bodyPr vert="horz" wrap="square" lIns="91440" tIns="45720" rIns="91440" bIns="45720" rtlCol="0" anchor="ctr" anchorCtr="0">
            <a:normAutofit/>
          </a:bodyPr>
          <a:lstStyle>
            <a:defPPr>
              <a:defRPr lang="en-US">
                <a:latin typeface="+mj-lt"/>
              </a:defRPr>
            </a:defPPr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4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6"/>
                </a:solidFill>
                <a:uFillTx/>
                <a:latin typeface="+mj-lt"/>
                <a:sym typeface="+mn-ea"/>
              </a:defRPr>
            </a:lvl1pPr>
          </a:lstStyle>
          <a:p>
            <a:pPr lvl="0" algn="l"/>
            <a:r>
              <a:rPr lang="en-GB" altLang="en-US" sz="3200">
                <a:cs typeface="+mn-ea"/>
                <a:sym typeface="+mn-ea"/>
              </a:rPr>
              <a:t>O</a:t>
            </a:r>
            <a:r>
              <a:rPr lang="en-GB" altLang="en-US" sz="3200">
                <a:cs typeface="+mn-ea"/>
                <a:sym typeface="+mn-ea"/>
              </a:rPr>
              <a:t>BJECTIVE</a:t>
            </a:r>
            <a:endParaRPr lang="en-GB" altLang="en-US" sz="3200">
              <a:cs typeface="+mn-ea"/>
              <a:sym typeface="+mn-ea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40665" y="2032635"/>
            <a:ext cx="8799830" cy="454469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altLang="en-US">
                <a:solidFill>
                  <a:schemeClr val="tx1"/>
                </a:solidFill>
              </a:rPr>
              <a:t>-</a:t>
            </a:r>
            <a:r>
              <a:rPr lang="en-US" altLang="en-US">
                <a:solidFill>
                  <a:schemeClr val="tx1"/>
                </a:solidFill>
              </a:rPr>
              <a:t>Analyze H1B visa application trends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altLang="en-US">
                <a:solidFill>
                  <a:schemeClr val="tx1"/>
                </a:solidFill>
              </a:rPr>
              <a:t>-</a:t>
            </a:r>
            <a:r>
              <a:rPr lang="en-US" altLang="en-US">
                <a:solidFill>
                  <a:schemeClr val="tx1"/>
                </a:solidFill>
              </a:rPr>
              <a:t>Identify valid vs total applications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altLang="en-US">
                <a:solidFill>
                  <a:schemeClr val="tx1"/>
                </a:solidFill>
              </a:rPr>
              <a:t>-</a:t>
            </a:r>
            <a:r>
              <a:rPr lang="en-US" altLang="en-US">
                <a:solidFill>
                  <a:schemeClr val="tx1"/>
                </a:solidFill>
              </a:rPr>
              <a:t>Evaluate approval rate and case status distribution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altLang="en-US">
                <a:solidFill>
                  <a:schemeClr val="tx1"/>
                </a:solidFill>
              </a:rPr>
              <a:t>-</a:t>
            </a:r>
            <a:r>
              <a:rPr lang="en-US" altLang="en-US">
                <a:solidFill>
                  <a:schemeClr val="tx1"/>
                </a:solidFill>
              </a:rPr>
              <a:t>Discover top employers, job roles, and salary trends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altLang="en-US">
                <a:solidFill>
                  <a:schemeClr val="tx1"/>
                </a:solidFill>
              </a:rPr>
              <a:t>-</a:t>
            </a:r>
            <a:r>
              <a:rPr lang="en-US" altLang="en-US">
                <a:solidFill>
                  <a:schemeClr val="tx1"/>
                </a:solidFill>
              </a:rPr>
              <a:t>Analyze state-wise hiring patterns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Title 11"/>
          <p:cNvSpPr txBox="1">
            <a:spLocks noGrp="1"/>
          </p:cNvSpPr>
          <p:nvPr>
            <p:ph type="title" idx="2"/>
            <p:custDataLst>
              <p:tags r:id="rId1"/>
            </p:custDataLst>
          </p:nvPr>
        </p:nvSpPr>
        <p:spPr>
          <a:xfrm>
            <a:off x="99060" y="1054100"/>
            <a:ext cx="8584565" cy="513715"/>
          </a:xfrm>
          <a:noFill/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en-US">
                <a:latin typeface="+mj-lt"/>
              </a:defRPr>
            </a:defPPr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4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6"/>
                </a:solidFill>
                <a:uFillTx/>
                <a:latin typeface="+mj-lt"/>
                <a:sym typeface="+mn-ea"/>
              </a:defRPr>
            </a:lvl1pPr>
          </a:lstStyle>
          <a:p>
            <a:pPr lvl="0" algn="l"/>
            <a:r>
              <a:rPr lang="en-GB" altLang="en-US" sz="3200">
                <a:cs typeface="+mn-ea"/>
                <a:sym typeface="+mn-ea"/>
              </a:rPr>
              <a:t>D</a:t>
            </a:r>
            <a:r>
              <a:rPr lang="en-GB" altLang="en-US" sz="3200">
                <a:cs typeface="+mn-ea"/>
                <a:sym typeface="+mn-ea"/>
              </a:rPr>
              <a:t>ATASET OVERVIEW</a:t>
            </a:r>
            <a:endParaRPr lang="en-GB" altLang="en-US" sz="3200">
              <a:cs typeface="+mn-ea"/>
              <a:sym typeface="+mn-ea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17475" y="1783715"/>
            <a:ext cx="8759190" cy="48514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7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>
                <a:solidFill>
                  <a:schemeClr val="tx1"/>
                </a:solidFill>
              </a:rPr>
              <a:t>Source: Public H1B Visa Applications Dataset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Total Records: ~2.4 Million (Raw Data)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Valid Applications: ~596K (After Data Cleaning &amp; Removing Duplicates)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Key Features: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GB" altLang="en-US">
                <a:solidFill>
                  <a:schemeClr val="tx1"/>
                </a:solidFill>
              </a:rPr>
              <a:t>-</a:t>
            </a:r>
            <a:r>
              <a:rPr lang="en-US" altLang="en-US">
                <a:solidFill>
                  <a:schemeClr val="tx1"/>
                </a:solidFill>
              </a:rPr>
              <a:t>Case Status (Certified, Denied, Withdrawn)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GB" altLang="en-US">
                <a:solidFill>
                  <a:schemeClr val="tx1"/>
                </a:solidFill>
              </a:rPr>
              <a:t>-</a:t>
            </a:r>
            <a:r>
              <a:rPr lang="en-US" altLang="en-US">
                <a:solidFill>
                  <a:schemeClr val="tx1"/>
                </a:solidFill>
              </a:rPr>
              <a:t>Employer Name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GB" altLang="en-US">
                <a:solidFill>
                  <a:schemeClr val="tx1"/>
                </a:solidFill>
              </a:rPr>
              <a:t>-</a:t>
            </a:r>
            <a:r>
              <a:rPr lang="en-US" altLang="en-US">
                <a:solidFill>
                  <a:schemeClr val="tx1"/>
                </a:solidFill>
              </a:rPr>
              <a:t>Job Title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GB" altLang="en-US">
                <a:solidFill>
                  <a:schemeClr val="tx1"/>
                </a:solidFill>
              </a:rPr>
              <a:t>-</a:t>
            </a:r>
            <a:r>
              <a:rPr lang="en-US" altLang="en-US">
                <a:solidFill>
                  <a:schemeClr val="tx1"/>
                </a:solidFill>
              </a:rPr>
              <a:t>Salary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GB" altLang="en-US">
                <a:solidFill>
                  <a:schemeClr val="tx1"/>
                </a:solidFill>
              </a:rPr>
              <a:t>-</a:t>
            </a:r>
            <a:r>
              <a:rPr lang="en-US" altLang="en-US">
                <a:solidFill>
                  <a:schemeClr val="tx1"/>
                </a:solidFill>
              </a:rPr>
              <a:t>Work Location (State)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GB" altLang="en-US">
                <a:solidFill>
                  <a:schemeClr val="tx1"/>
                </a:solidFill>
              </a:rPr>
              <a:t>-</a:t>
            </a:r>
            <a:r>
              <a:rPr lang="en-US" altLang="en-US">
                <a:solidFill>
                  <a:schemeClr val="tx1"/>
                </a:solidFill>
              </a:rPr>
              <a:t>Application Date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Title 11"/>
          <p:cNvSpPr txBox="1">
            <a:spLocks noGrp="1"/>
          </p:cNvSpPr>
          <p:nvPr>
            <p:ph type="title" idx="2"/>
            <p:custDataLst>
              <p:tags r:id="rId1"/>
            </p:custDataLst>
          </p:nvPr>
        </p:nvSpPr>
        <p:spPr>
          <a:noFill/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en-US">
                <a:latin typeface="+mj-lt"/>
              </a:defRPr>
            </a:defPPr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4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6"/>
                </a:solidFill>
                <a:uFillTx/>
                <a:latin typeface="+mj-lt"/>
                <a:sym typeface="+mn-ea"/>
              </a:defRPr>
            </a:lvl1pPr>
          </a:lstStyle>
          <a:p>
            <a:pPr lvl="0" algn="l"/>
            <a:r>
              <a:rPr lang="en-GB" altLang="en-US" sz="3200">
                <a:cs typeface="+mn-ea"/>
                <a:sym typeface="+mn-ea"/>
              </a:rPr>
              <a:t>T</a:t>
            </a:r>
            <a:r>
              <a:rPr lang="en-GB" altLang="en-US" sz="3200">
                <a:cs typeface="+mn-ea"/>
                <a:sym typeface="+mn-ea"/>
              </a:rPr>
              <a:t>OOL USED</a:t>
            </a:r>
            <a:endParaRPr lang="en-GB" altLang="en-US" sz="3200">
              <a:cs typeface="+mn-ea"/>
              <a:sym typeface="+mn-ea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02235" y="2064385"/>
            <a:ext cx="9323705" cy="580326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4000">
                <a:solidFill>
                  <a:schemeClr val="tx1"/>
                </a:solidFill>
              </a:rPr>
              <a:t>• SQL → Data analysis</a:t>
            </a:r>
            <a:endParaRPr sz="4000">
              <a:solidFill>
                <a:schemeClr val="tx1"/>
              </a:solidFill>
            </a:endParaRPr>
          </a:p>
          <a:p>
            <a:r>
              <a:rPr sz="4000">
                <a:solidFill>
                  <a:schemeClr val="tx1"/>
                </a:solidFill>
              </a:rPr>
              <a:t>• Power BI → Dashboard</a:t>
            </a:r>
            <a:endParaRPr sz="4000">
              <a:solidFill>
                <a:schemeClr val="tx1"/>
              </a:solidFill>
            </a:endParaRPr>
          </a:p>
          <a:p>
            <a:endParaRPr lang="en-GB" sz="40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Title 11"/>
          <p:cNvSpPr txBox="1">
            <a:spLocks noGrp="1"/>
          </p:cNvSpPr>
          <p:nvPr>
            <p:ph type="title" idx="2"/>
            <p:custDataLst>
              <p:tags r:id="rId1"/>
            </p:custDataLst>
          </p:nvPr>
        </p:nvSpPr>
        <p:spPr>
          <a:xfrm>
            <a:off x="325120" y="941705"/>
            <a:ext cx="8358505" cy="626110"/>
          </a:xfrm>
          <a:noFill/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en-US">
                <a:latin typeface="+mj-lt"/>
              </a:defRPr>
            </a:defPPr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4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6"/>
                </a:solidFill>
                <a:uFillTx/>
                <a:latin typeface="+mj-lt"/>
                <a:sym typeface="+mn-ea"/>
              </a:defRPr>
            </a:lvl1pPr>
          </a:lstStyle>
          <a:p>
            <a:pPr lvl="0" algn="l"/>
            <a:r>
              <a:rPr lang="en-GB" altLang="en-US" sz="3200">
                <a:cs typeface="+mn-ea"/>
                <a:sym typeface="+mn-ea"/>
              </a:rPr>
              <a:t>K</a:t>
            </a:r>
            <a:r>
              <a:rPr lang="en-GB" altLang="en-US" sz="3200">
                <a:cs typeface="+mn-ea"/>
                <a:sym typeface="+mn-ea"/>
              </a:rPr>
              <a:t>EY PERFORMANCE INDICATORS</a:t>
            </a:r>
            <a:endParaRPr lang="en-GB" altLang="en-US" sz="3200">
              <a:cs typeface="+mn-ea"/>
              <a:sym typeface="+mn-ea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94640" y="1790065"/>
            <a:ext cx="8678545" cy="470662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>
                <a:solidFill>
                  <a:schemeClr val="tx1"/>
                </a:solidFill>
              </a:rPr>
              <a:t>Total Valid Applications</a:t>
            </a:r>
            <a:r>
              <a:rPr lang="en-GB" altLang="en-US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analyzed:596K+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Number of Employers involved:72K+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Average Salary offered: $389K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Unique Job Roles identified: 120K+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Overall Approval Rate: 92.5%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Title 11"/>
          <p:cNvSpPr txBox="1">
            <a:spLocks noGrp="1"/>
          </p:cNvSpPr>
          <p:nvPr>
            <p:ph type="title" idx="2"/>
            <p:custDataLst>
              <p:tags r:id="rId1"/>
            </p:custDataLst>
          </p:nvPr>
        </p:nvSpPr>
        <p:spPr>
          <a:xfrm>
            <a:off x="456565" y="941705"/>
            <a:ext cx="8227060" cy="626110"/>
          </a:xfrm>
          <a:noFill/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en-US">
                <a:latin typeface="+mj-lt"/>
              </a:defRPr>
            </a:defPPr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4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6"/>
                </a:solidFill>
                <a:uFillTx/>
                <a:latin typeface="+mj-lt"/>
                <a:sym typeface="+mn-ea"/>
              </a:defRPr>
            </a:lvl1pPr>
          </a:lstStyle>
          <a:p>
            <a:pPr lvl="0" algn="l"/>
            <a:r>
              <a:rPr sz="3200">
                <a:cs typeface="+mn-ea"/>
                <a:sym typeface="+mn-ea"/>
              </a:rPr>
              <a:t>K</a:t>
            </a:r>
            <a:r>
              <a:rPr lang="en-GB" altLang="en-US" sz="3200">
                <a:cs typeface="+mn-ea"/>
                <a:sym typeface="+mn-ea"/>
              </a:rPr>
              <a:t>E</a:t>
            </a:r>
            <a:r>
              <a:rPr lang="en-GB" altLang="en-US" sz="3200">
                <a:cs typeface="+mn-ea"/>
                <a:sym typeface="+mn-ea"/>
              </a:rPr>
              <a:t>Y INSIGHTS</a:t>
            </a:r>
            <a:endParaRPr lang="en-GB" altLang="en-US" sz="3200">
              <a:cs typeface="+mn-ea"/>
              <a:sym typeface="+mn-ea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10490" y="1751330"/>
            <a:ext cx="8903970" cy="5106035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>
                <a:solidFill>
                  <a:schemeClr val="tx1"/>
                </a:solidFill>
              </a:rPr>
              <a:t>High Approval Rate (~92.5%) indicates </a:t>
            </a:r>
            <a:r>
              <a:rPr lang="en-US" altLang="en-US" sz="2400" b="1">
                <a:solidFill>
                  <a:schemeClr val="tx1"/>
                </a:solidFill>
              </a:rPr>
              <a:t>strong demand for skilled foreign workers</a:t>
            </a:r>
            <a:r>
              <a:rPr lang="en-GB" altLang="en-US" sz="2400" b="1">
                <a:solidFill>
                  <a:schemeClr val="tx1"/>
                </a:solidFill>
              </a:rPr>
              <a:t>.</a:t>
            </a:r>
            <a:endParaRPr lang="en-US" altLang="en-US" sz="2400" b="1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Significant data reduction (2.4M → 596K) highlights the </a:t>
            </a:r>
            <a:r>
              <a:rPr lang="en-US" altLang="en-US" sz="2400" b="1">
                <a:solidFill>
                  <a:schemeClr val="tx1"/>
                </a:solidFill>
              </a:rPr>
              <a:t>importance of data cleaning and removing duplicates</a:t>
            </a:r>
            <a:r>
              <a:rPr lang="en-GB" altLang="en-US" sz="2400" b="1">
                <a:solidFill>
                  <a:schemeClr val="tx1"/>
                </a:solidFill>
              </a:rPr>
              <a:t>.</a:t>
            </a:r>
            <a:endParaRPr lang="en-US" altLang="en-US" sz="2400" b="1">
              <a:solidFill>
                <a:schemeClr val="tx1"/>
              </a:solidFill>
            </a:endParaRPr>
          </a:p>
          <a:p>
            <a:r>
              <a:rPr lang="en-US" altLang="en-US" sz="2400" b="1">
                <a:solidFill>
                  <a:schemeClr val="tx1"/>
                </a:solidFill>
              </a:rPr>
              <a:t>Technology roles (e.g., Software Engineers) dominate H1B applications</a:t>
            </a:r>
            <a:r>
              <a:rPr lang="en-GB" altLang="en-US" sz="2400" b="1">
                <a:solidFill>
                  <a:schemeClr val="tx1"/>
                </a:solidFill>
              </a:rPr>
              <a:t>.</a:t>
            </a:r>
            <a:endParaRPr lang="en-US" altLang="en-US" sz="2400" b="1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Top employers such as </a:t>
            </a:r>
            <a:r>
              <a:rPr lang="en-US" altLang="en-US" sz="2400" b="1">
                <a:solidFill>
                  <a:schemeClr val="tx1"/>
                </a:solidFill>
              </a:rPr>
              <a:t>Amazon, Google, and Microsoft</a:t>
            </a:r>
            <a:r>
              <a:rPr lang="en-US" altLang="en-US" sz="2400">
                <a:solidFill>
                  <a:schemeClr val="tx1"/>
                </a:solidFill>
              </a:rPr>
              <a:t> lead in visa sponsorship</a:t>
            </a:r>
            <a:r>
              <a:rPr lang="en-GB" altLang="en-US" sz="2400">
                <a:solidFill>
                  <a:schemeClr val="tx1"/>
                </a:solidFill>
              </a:rPr>
              <a:t>.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 b="1">
                <a:solidFill>
                  <a:schemeClr val="tx1"/>
                </a:solidFill>
              </a:rPr>
              <a:t>California, Texas, and New York</a:t>
            </a:r>
            <a:r>
              <a:rPr lang="en-US" altLang="en-US" sz="2400">
                <a:solidFill>
                  <a:schemeClr val="tx1"/>
                </a:solidFill>
              </a:rPr>
              <a:t> emerge as major hiring hubs</a:t>
            </a:r>
            <a:r>
              <a:rPr lang="en-GB" altLang="en-US" sz="2400">
                <a:solidFill>
                  <a:schemeClr val="tx1"/>
                </a:solidFill>
              </a:rPr>
              <a:t>.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Salary distribution shows </a:t>
            </a:r>
            <a:r>
              <a:rPr lang="en-US" altLang="en-US" sz="2400" b="1">
                <a:solidFill>
                  <a:schemeClr val="tx1"/>
                </a:solidFill>
              </a:rPr>
              <a:t>higher pay in specialized and managerial roles</a:t>
            </a:r>
            <a:r>
              <a:rPr lang="en-GB" altLang="en-US" sz="2400" b="1">
                <a:solidFill>
                  <a:schemeClr val="tx1"/>
                </a:solidFill>
              </a:rPr>
              <a:t>.</a:t>
            </a:r>
            <a:endParaRPr lang="en-GB" altLang="en-US" sz="2400" b="1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Title 11"/>
          <p:cNvSpPr txBox="1">
            <a:spLocks noGrp="1"/>
          </p:cNvSpPr>
          <p:nvPr>
            <p:ph type="title" idx="2"/>
            <p:custDataLst>
              <p:tags r:id="rId1"/>
            </p:custDataLst>
          </p:nvPr>
        </p:nvSpPr>
        <p:spPr>
          <a:xfrm>
            <a:off x="119380" y="957580"/>
            <a:ext cx="8564245" cy="610235"/>
          </a:xfrm>
          <a:noFill/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en-US">
                <a:latin typeface="+mj-lt"/>
              </a:defRPr>
            </a:defPPr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4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6"/>
                </a:solidFill>
                <a:uFillTx/>
                <a:latin typeface="+mj-lt"/>
                <a:sym typeface="+mn-ea"/>
              </a:defRPr>
            </a:lvl1pPr>
          </a:lstStyle>
          <a:p>
            <a:pPr lvl="0" algn="l"/>
            <a:r>
              <a:rPr lang="en-GB" altLang="en-US" sz="3200">
                <a:cs typeface="+mn-ea"/>
                <a:sym typeface="+mn-ea"/>
              </a:rPr>
              <a:t>D</a:t>
            </a:r>
            <a:r>
              <a:rPr lang="en-GB" altLang="en-US" sz="3200">
                <a:cs typeface="+mn-ea"/>
                <a:sym typeface="+mn-ea"/>
              </a:rPr>
              <a:t>ASHBOARD OVERVIEW</a:t>
            </a:r>
            <a:endParaRPr lang="en-GB" altLang="en-US" sz="3200">
              <a:cs typeface="+mn-ea"/>
              <a:sym typeface="+mn-ea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10490" y="1854835"/>
            <a:ext cx="8936990" cy="477012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7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430">
                <a:solidFill>
                  <a:schemeClr val="tx1"/>
                </a:solidFill>
              </a:rPr>
              <a:t>KPI Cards display key metrics like applications, salary, and approval rate</a:t>
            </a:r>
            <a:endParaRPr lang="en-US" altLang="en-US" sz="3430">
              <a:solidFill>
                <a:schemeClr val="tx1"/>
              </a:solidFill>
            </a:endParaRPr>
          </a:p>
          <a:p>
            <a:r>
              <a:rPr lang="en-US" altLang="en-US" sz="3430">
                <a:solidFill>
                  <a:schemeClr val="tx1"/>
                </a:solidFill>
              </a:rPr>
              <a:t>Pie Chart shows distribution of application status </a:t>
            </a:r>
            <a:r>
              <a:rPr lang="en-GB" altLang="en-US" sz="3430">
                <a:solidFill>
                  <a:schemeClr val="tx1"/>
                </a:solidFill>
              </a:rPr>
              <a:t>-</a:t>
            </a:r>
            <a:r>
              <a:rPr lang="en-US" altLang="en-US" sz="3430" b="1">
                <a:solidFill>
                  <a:schemeClr val="tx1"/>
                </a:solidFill>
              </a:rPr>
              <a:t>Certified, Denied, Withdrawn</a:t>
            </a:r>
            <a:endParaRPr lang="en-US" altLang="en-US" sz="3430">
              <a:solidFill>
                <a:schemeClr val="tx1"/>
              </a:solidFill>
            </a:endParaRPr>
          </a:p>
          <a:p>
            <a:r>
              <a:rPr lang="en-US" altLang="en-US" sz="3430">
                <a:solidFill>
                  <a:schemeClr val="tx1"/>
                </a:solidFill>
              </a:rPr>
              <a:t>Line Chart highlights application trends across quarters</a:t>
            </a:r>
            <a:endParaRPr lang="en-US" altLang="en-US" sz="3430">
              <a:solidFill>
                <a:schemeClr val="tx1"/>
              </a:solidFill>
            </a:endParaRPr>
          </a:p>
          <a:p>
            <a:r>
              <a:rPr lang="en-US" altLang="en-US" sz="3430">
                <a:solidFill>
                  <a:schemeClr val="tx1"/>
                </a:solidFill>
              </a:rPr>
              <a:t>Bar Charts represent top employers and job roles</a:t>
            </a:r>
            <a:endParaRPr lang="en-US" altLang="en-US" sz="3430">
              <a:solidFill>
                <a:schemeClr val="tx1"/>
              </a:solidFill>
            </a:endParaRPr>
          </a:p>
          <a:p>
            <a:r>
              <a:rPr lang="en-US" altLang="en-US" sz="3430">
                <a:solidFill>
                  <a:schemeClr val="tx1"/>
                </a:solidFill>
              </a:rPr>
              <a:t>Map Visualization shows state-wise distribution of applications</a:t>
            </a:r>
            <a:endParaRPr lang="en-US" altLang="en-US" sz="3430">
              <a:solidFill>
                <a:schemeClr val="tx1"/>
              </a:solidFill>
            </a:endParaRPr>
          </a:p>
          <a:p>
            <a:r>
              <a:rPr lang="en-US" altLang="en-US" sz="3430">
                <a:solidFill>
                  <a:schemeClr val="tx1"/>
                </a:solidFill>
              </a:rPr>
              <a:t>Filters (Case Status, Quarter) enable dynamic analysis</a:t>
            </a:r>
            <a:endParaRPr lang="en-US" altLang="en-US" sz="343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en-GB" altLang="en-US" sz="3200"/>
              <a:t>DASHBOARD</a:t>
            </a:r>
            <a:endParaRPr lang="en-GB" altLang="en-US" sz="3200"/>
          </a:p>
        </p:txBody>
      </p:sp>
      <p:pic>
        <p:nvPicPr>
          <p:cNvPr id="6" name="Picture 5" descr="H1B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45" y="1781810"/>
            <a:ext cx="8931275" cy="49110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Title 11"/>
          <p:cNvSpPr txBox="1">
            <a:spLocks noGrp="1"/>
          </p:cNvSpPr>
          <p:nvPr>
            <p:ph type="title" idx="2"/>
            <p:custDataLst>
              <p:tags r:id="rId1"/>
            </p:custDataLst>
          </p:nvPr>
        </p:nvSpPr>
        <p:spPr>
          <a:noFill/>
        </p:spPr>
        <p:txBody>
          <a:bodyPr vert="horz" wrap="square" lIns="91440" tIns="45720" rIns="91440" bIns="45720" rtlCol="0" anchor="ctr" anchorCtr="0">
            <a:normAutofit/>
          </a:bodyPr>
          <a:lstStyle>
            <a:defPPr>
              <a:defRPr lang="en-US">
                <a:latin typeface="+mj-lt"/>
              </a:defRPr>
            </a:defPPr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4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6"/>
                </a:solidFill>
                <a:uFillTx/>
                <a:latin typeface="+mj-lt"/>
                <a:sym typeface="+mn-ea"/>
              </a:defRPr>
            </a:lvl1pPr>
          </a:lstStyle>
          <a:p>
            <a:pPr lvl="0" algn="l"/>
            <a:r>
              <a:rPr>
                <a:cs typeface="+mn-ea"/>
                <a:sym typeface="+mn-ea"/>
              </a:rPr>
              <a:t>Conclusion</a:t>
            </a:r>
            <a:endParaRPr>
              <a:cs typeface="+mn-ea"/>
              <a:sym typeface="+mn-ea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61290" y="1822450"/>
            <a:ext cx="8872220" cy="486791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>
                <a:solidFill>
                  <a:schemeClr val="tx1"/>
                </a:solidFill>
              </a:rPr>
              <a:t>H1B visa applications show a consistently </a:t>
            </a:r>
            <a:r>
              <a:rPr lang="en-US" altLang="en-US" b="1">
                <a:solidFill>
                  <a:schemeClr val="tx1"/>
                </a:solidFill>
              </a:rPr>
              <a:t>high approval rate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 b="1">
                <a:solidFill>
                  <a:schemeClr val="tx1"/>
                </a:solidFill>
              </a:rPr>
              <a:t>Technology roles dominate</a:t>
            </a:r>
            <a:r>
              <a:rPr lang="en-US" altLang="en-US">
                <a:solidFill>
                  <a:schemeClr val="tx1"/>
                </a:solidFill>
              </a:rPr>
              <a:t> the job market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Major hiring is concentrated in key states like </a:t>
            </a:r>
            <a:r>
              <a:rPr lang="en-US" altLang="en-US" b="1">
                <a:solidFill>
                  <a:schemeClr val="tx1"/>
                </a:solidFill>
              </a:rPr>
              <a:t>California and Texas</a:t>
            </a:r>
            <a:endParaRPr lang="en-US" altLang="en-US" b="1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Data-driven insights can help organizations improve hiring strategies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511175" y="2475230"/>
            <a:ext cx="8121015" cy="39725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GB" altLang="en-US" sz="9600">
                <a:solidFill>
                  <a:schemeClr val="tx1"/>
                </a:solidFill>
                <a:latin typeface="+mj-lt"/>
                <a:cs typeface="+mj-lt"/>
              </a:rPr>
              <a:t>THANK YOU</a:t>
            </a:r>
            <a:endParaRPr lang="en-GB" altLang="en-US" sz="9600">
              <a:solidFill>
                <a:schemeClr val="tx1"/>
              </a:solidFill>
              <a:latin typeface="+mj-lt"/>
              <a:cs typeface="+mj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FILL_FORE_SCHEMECOLOR_INDEX_1_BRIGHTNESS" val="0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1"/>
  <p:tag name="KSO_WM_UNIT_FILL_FORE_SCHEMECOLOR_INDEX_2_TRANS" val="0.43"/>
  <p:tag name="KSO_WM_UNIT_FILL_GRADIENT_TYPE" val="0"/>
  <p:tag name="KSO_WM_UNIT_FILL_GRADIENT_ANGLE" val="0"/>
  <p:tag name="KSO_WM_UNIT_FILL_GRADIENT_DIRECTION" val="3"/>
  <p:tag name="KSO_WM_UNIT_FILL_TYPE" val="3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FILL_FORE_SCHEMECOLOR_INDEX_BRIGHTNESS" val="-0.25"/>
  <p:tag name="KSO_WM_UNIT_FILL_FORE_SCHEMECOLOR_INDEX" val="8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FILL_FORE_SCHEMECOLOR_INDEX_BRIGHTNESS" val="-0.5"/>
  <p:tag name="KSO_WM_UNIT_FILL_FORE_SCHEMECOLOR_INDEX" val="7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  <p:tag name="KSO_WM_UNIT_SUBTYPE" val="b"/>
  <p:tag name="KSO_WM_UNIT_PRESET_TEXT" val="汇报人 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ISCONTENTSTITLE" val="0"/>
  <p:tag name="KSO_WM_UNIT_ISNUMDGMTITLE" val="0"/>
  <p:tag name="KSO_WM_UNIT_PRESET_TEXT" val="BUSINESS SCHEDULE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1"/>
  <p:tag name="KSO_WM_UNIT_ID" val="_2*i*1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FILL_FORE_SCHEMECOLOR_INDEX_1_BRIGHTNESS" val="0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1"/>
  <p:tag name="KSO_WM_UNIT_FILL_FORE_SCHEMECOLOR_INDEX_2_TRANS" val="0.43"/>
  <p:tag name="KSO_WM_UNIT_FILL_GRADIENT_TYPE" val="0"/>
  <p:tag name="KSO_WM_UNIT_FILL_GRADIENT_ANGLE" val="0"/>
  <p:tag name="KSO_WM_UNIT_FILL_GRADIENT_DIRECTION" val="3"/>
  <p:tag name="KSO_WM_UNIT_FILL_TYPE" val="3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FILL_FORE_SCHEMECOLOR_INDEX_BRIGHTNESS" val="-0.25"/>
  <p:tag name="KSO_WM_UNIT_FILL_FORE_SCHEMECOLOR_INDEX" val="8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FILL_FORE_SCHEMECOLOR_INDEX_BRIGHTNESS" val="-0.5"/>
  <p:tag name="KSO_WM_UNIT_FILL_FORE_SCHEMECOLOR_INDEX" val="7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1"/>
  <p:tag name="KSO_WM_UNIT_ID" val="_5*i*1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1"/>
  <p:tag name="KSO_WM_UNIT_ID" val="_6*i*1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1"/>
  <p:tag name="KSO_WM_UNIT_ID" val="_7*i*1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8*i*1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1"/>
  <p:tag name="KSO_WM_UNIT_ID" val="_10*i*1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FILL_FORE_SCHEMECOLOR_INDEX_1_BRIGHTNESS" val="0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1"/>
  <p:tag name="KSO_WM_UNIT_FILL_FORE_SCHEMECOLOR_INDEX_2_TRANS" val="0.43"/>
  <p:tag name="KSO_WM_UNIT_FILL_GRADIENT_TYPE" val="0"/>
  <p:tag name="KSO_WM_UNIT_FILL_GRADIENT_ANGLE" val="0"/>
  <p:tag name="KSO_WM_UNIT_FILL_GRADIENT_DIRECTION" val="3"/>
  <p:tag name="KSO_WM_UNIT_FILL_TYPE" val="3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FILL_FORE_SCHEMECOLOR_INDEX_BRIGHTNESS" val="-0.25"/>
  <p:tag name="KSO_WM_UNIT_FILL_FORE_SCHEMECOLOR_INDEX" val="8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FILL_FORE_SCHEMECOLOR_INDEX_BRIGHTNESS" val="-0.5"/>
  <p:tag name="KSO_WM_UNIT_FILL_FORE_SCHEMECOLOR_INDEX" val="7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耐心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  <p:tag name="KSO_WM_UNIT_SUBTYPE" val="b"/>
  <p:tag name="KSO_WM_UNIT_PRESET_TEXT" val="汇报人 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SUBTYPE" val="a"/>
  <p:tag name="KSO_WM_UNIT_PRESET_TEXT" val="Click to add text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3.0"/>
  <p:tag name="KSO_WM_BEAUTIFY_FLAG" val="#wm#"/>
  <p:tag name="KSO_WM_TEMPLATE_CATEGORY" val="custom"/>
  <p:tag name="KSO_WM_TEMPLATE_INDEX" val="20233454"/>
</p:tagLst>
</file>

<file path=ppt/tags/tag84.xml><?xml version="1.0" encoding="utf-8"?>
<p:tagLst xmlns:p="http://schemas.openxmlformats.org/presentationml/2006/main">
  <p:tag name="KSO_WM_UNIT_ISCONTENTSTITLE" val="0"/>
  <p:tag name="KSO_WM_UNIT_ISNUMDGMTITLE" val="0"/>
  <p:tag name="KSO_WM_UNIT_PRESET_TEXT" val="Click to add title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54"/>
</p:tagLst>
</file>

<file path=ppt/tags/tag85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54"/>
</p:tagLst>
</file>

<file path=ppt/tags/tag8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3"/>
  <p:tag name="KSO_WM_TEMPLATE_CATEGORY" val="custom"/>
  <p:tag name="KSO_WM_TEMPLATE_INDEX" val="20233457"/>
  <p:tag name="KSO_WM_UNIT_LAYERLEVEL" val="1"/>
  <p:tag name="KSO_WM_TAG_VERSION" val="3.0"/>
  <p:tag name="KSO_WM_BEAUTIFY_FLAG" val="#wm#"/>
  <p:tag name="KSO_WM_UNIT_PRESET_TEXT" val="Your title here"/>
</p:tagLst>
</file>

<file path=ppt/tags/tag87.xml><?xml version="1.0" encoding="utf-8"?>
<p:tagLst xmlns:p="http://schemas.openxmlformats.org/presentationml/2006/main">
  <p:tag name="KSO_WM_UNIT_ISCONTENTSTITLE" val="0"/>
  <p:tag name="KSO_WM_UNIT_ISNUMDGMTITLE" val="0"/>
  <p:tag name="KSO_WM_UNIT_PRESET_TEXT" val="BUSINESS SCHEDULE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TEMPLATE_CATEGORY" val="custom"/>
  <p:tag name="KSO_WM_TEMPLATE_INDEX" val="20233454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SPECIAL_SOURCE" val="bdnull"/>
  <p:tag name="KSO_WM_TEMPLATE_THUMBS_INDEX" val="1、9"/>
  <p:tag name="KSO_WM_SLIDE_CONTENT_AREA" val="{&quot;left&quot;:&quot;29.55&quot;,&quot;top&quot;:&quot;64.5&quot;,&quot;width&quot;:&quot;685.1&quot;,&quot;height&quot;:&quot;384.35&quot;}"/>
  <p:tag name="KSO_WM_SLIDE_ID" val="custom20233454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54"/>
  <p:tag name="KSO_WM_SLIDE_LAYOUT" val="a_b_f"/>
  <p:tag name="KSO_WM_SLIDE_LAYOUT_CNT" val="1_1_1"/>
  <p:tag name="KSO_WM_SLIDE_THEME_ID" val="3302432"/>
  <p:tag name="KSO_WM_SLIDE_THEME_NAME" val="Blue Business"/>
</p:tagLst>
</file>

<file path=ppt/tags/tag8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</p:tagLst>
</file>

<file path=ppt/tags/tag90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91.xml><?xml version="1.0" encoding="utf-8"?>
<p:tagLst xmlns:p="http://schemas.openxmlformats.org/presentationml/2006/main">
  <p:tag name="KSO_WM_SLIDE_TYPE" val="text"/>
  <p:tag name="KSO_WM_BEAUTIFY_FLAG" val="#wm#"/>
</p:tagLst>
</file>

<file path=ppt/tags/tag92.xml><?xml version="1.0" encoding="utf-8"?>
<p:tagLst xmlns:p="http://schemas.openxmlformats.org/presentationml/2006/main">
  <p:tag name="KSO_WM_UNIT_TEXT" val="Objective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93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94.xml><?xml version="1.0" encoding="utf-8"?>
<p:tagLst xmlns:p="http://schemas.openxmlformats.org/presentationml/2006/main">
  <p:tag name="KSO_WM_SLIDE_TYPE" val="text"/>
  <p:tag name="KSO_WM_BEAUTIFY_FLAG" val="#wm#"/>
</p:tagLst>
</file>

<file path=ppt/tags/tag95.xml><?xml version="1.0" encoding="utf-8"?>
<p:tagLst xmlns:p="http://schemas.openxmlformats.org/presentationml/2006/main">
  <p:tag name="KSO_WM_UNIT_TEXT" val="Dataset Overview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96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97.xml><?xml version="1.0" encoding="utf-8"?>
<p:tagLst xmlns:p="http://schemas.openxmlformats.org/presentationml/2006/main">
  <p:tag name="KSO_WM_SLIDE_TYPE" val="text"/>
  <p:tag name="KSO_WM_BEAUTIFY_FLAG" val="#wm#"/>
</p:tagLst>
</file>

<file path=ppt/tags/tag98.xml><?xml version="1.0" encoding="utf-8"?>
<p:tagLst xmlns:p="http://schemas.openxmlformats.org/presentationml/2006/main">
  <p:tag name="KSO_WM_UNIT_TEXT" val="Tools Used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99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00.xml><?xml version="1.0" encoding="utf-8"?>
<p:tagLst xmlns:p="http://schemas.openxmlformats.org/presentationml/2006/main">
  <p:tag name="KSO_WM_SLIDE_TYPE" val="text"/>
  <p:tag name="KSO_WM_BEAUTIFY_FLAG" val="#wm#"/>
</p:tagLst>
</file>

<file path=ppt/tags/tag101.xml><?xml version="1.0" encoding="utf-8"?>
<p:tagLst xmlns:p="http://schemas.openxmlformats.org/presentationml/2006/main">
  <p:tag name="KSO_WM_UNIT_TEXT" val="Key KPI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102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03.xml><?xml version="1.0" encoding="utf-8"?>
<p:tagLst xmlns:p="http://schemas.openxmlformats.org/presentationml/2006/main">
  <p:tag name="KSO_WM_SLIDE_TYPE" val="text"/>
  <p:tag name="KSO_WM_BEAUTIFY_FLAG" val="#wm#"/>
</p:tagLst>
</file>

<file path=ppt/tags/tag104.xml><?xml version="1.0" encoding="utf-8"?>
<p:tagLst xmlns:p="http://schemas.openxmlformats.org/presentationml/2006/main">
  <p:tag name="KSO_WM_UNIT_TEXT" val="Key Insight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105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06.xml><?xml version="1.0" encoding="utf-8"?>
<p:tagLst xmlns:p="http://schemas.openxmlformats.org/presentationml/2006/main">
  <p:tag name="KSO_WM_SLIDE_TYPE" val="text"/>
  <p:tag name="KSO_WM_BEAUTIFY_FLAG" val="#wm#"/>
</p:tagLst>
</file>

<file path=ppt/tags/tag10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TEXT" val="Dashboard Overview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109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10.xml><?xml version="1.0" encoding="utf-8"?>
<p:tagLst xmlns:p="http://schemas.openxmlformats.org/presentationml/2006/main">
  <p:tag name="KSO_WM_SLIDE_TYPE" val="text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自定义 70">
      <a:dk1>
        <a:srgbClr val="000000"/>
      </a:dk1>
      <a:lt1>
        <a:srgbClr val="FFFFFF"/>
      </a:lt1>
      <a:dk2>
        <a:srgbClr val="001760"/>
      </a:dk2>
      <a:lt2>
        <a:srgbClr val="E1E9FF"/>
      </a:lt2>
      <a:accent1>
        <a:srgbClr val="0033CC"/>
      </a:accent1>
      <a:accent2>
        <a:srgbClr val="0068A8"/>
      </a:accent2>
      <a:accent3>
        <a:srgbClr val="069AAA"/>
      </a:accent3>
      <a:accent4>
        <a:srgbClr val="06AA8B"/>
      </a:accent4>
      <a:accent5>
        <a:srgbClr val="6DA804"/>
      </a:accent5>
      <a:accent6>
        <a:srgbClr val="FFCB05"/>
      </a:accent6>
      <a:hlink>
        <a:srgbClr val="0563C1"/>
      </a:hlink>
      <a:folHlink>
        <a:srgbClr val="954F7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CC99"/>
        </a:solidFill>
        <a:ln>
          <a:noFill/>
          <a:prstDash val="dash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1978</Words>
  <Application>WPS Presentation</Application>
  <PresentationFormat>On-screen Show (4:3)</PresentationFormat>
  <Paragraphs>71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Arial</vt:lpstr>
      <vt:lpstr>SimSun</vt:lpstr>
      <vt:lpstr>Wingdings</vt:lpstr>
      <vt:lpstr>Arial</vt:lpstr>
      <vt:lpstr>Wingdings</vt:lpstr>
      <vt:lpstr>Bookman Old Style</vt:lpstr>
      <vt:lpstr>Lato</vt:lpstr>
      <vt:lpstr>Segoe Print</vt:lpstr>
      <vt:lpstr>Manrope ExtraBold</vt:lpstr>
      <vt:lpstr>Microsoft YaHei</vt:lpstr>
      <vt:lpstr>Arial Unicode MS</vt:lpstr>
      <vt:lpstr>Calibri</vt:lpstr>
      <vt:lpstr>Office Theme</vt:lpstr>
      <vt:lpstr>2_Office Theme</vt:lpstr>
      <vt:lpstr>PowerPoint 演示文稿</vt:lpstr>
      <vt:lpstr>OBJECTIVE</vt:lpstr>
      <vt:lpstr>DATASET OVERVIEW</vt:lpstr>
      <vt:lpstr>TOOL USED</vt:lpstr>
      <vt:lpstr>KEY PERFORMANCE INDICATORS</vt:lpstr>
      <vt:lpstr>KEY INSIGHTS</vt:lpstr>
      <vt:lpstr>DASHBOARD OVERVIEW</vt:lpstr>
      <vt:lpstr>DASHBOARD</vt:lpstr>
      <vt:lpstr>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Anushka Agrawal</cp:lastModifiedBy>
  <cp:revision>3</cp:revision>
  <dcterms:created xsi:type="dcterms:W3CDTF">2013-01-27T09:14:00Z</dcterms:created>
  <dcterms:modified xsi:type="dcterms:W3CDTF">2026-04-12T08:53:28Z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CF5F294B02BC44F49AFFB888CEE8A414_13</vt:lpwstr>
  </property>
  <property fmtid="{D5CDD505-2E9C-101B-9397-08002B2CF9AE}" pid="3" name="KSOProductBuildVer">
    <vt:lpwstr>1033-12.1.0.25242</vt:lpwstr>
  </property>
</Properties>
</file>